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8" r:id="rId4"/>
    <p:sldId id="267" r:id="rId5"/>
    <p:sldId id="264" r:id="rId6"/>
    <p:sldId id="269" r:id="rId7"/>
    <p:sldId id="258" r:id="rId8"/>
    <p:sldId id="259" r:id="rId9"/>
    <p:sldId id="261" r:id="rId10"/>
    <p:sldId id="262" r:id="rId11"/>
    <p:sldId id="263" r:id="rId12"/>
    <p:sldId id="270"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7" name="Date Placeholder 6"/>
          <p:cNvSpPr>
            <a:spLocks noGrp="1"/>
          </p:cNvSpPr>
          <p:nvPr>
            <p:ph type="dt" sz="half" idx="10"/>
          </p:nvPr>
        </p:nvSpPr>
        <p:spPr/>
        <p:txBody>
          <a:bodyPr/>
          <a:lstStyle/>
          <a:p>
            <a:fld id="{ECD19FB2-3AAB-4D03-B13A-2960828C78E3}" type="datetimeFigureOut">
              <a:rPr lang="en-US" dirty="0"/>
            </a:fld>
            <a:endParaRPr lang="en-US" dirty="0"/>
          </a:p>
        </p:txBody>
      </p:sp>
      <p:sp>
        <p:nvSpPr>
          <p:cNvPr id="8" name="Footer Placeholder 7"/>
          <p:cNvSpPr>
            <a:spLocks noGrp="1"/>
          </p:cNvSpPr>
          <p:nvPr>
            <p:ph type="ftr" sz="quarter" idx="11"/>
          </p:nvPr>
        </p:nvSpPr>
        <p:spPr/>
        <p:txBody>
          <a:bodyPr/>
          <a:lstStyle/>
          <a:p>
            <a:r>
              <a:rPr lang="en-US" dirty="0"/>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dirty="0"/>
            </a:fld>
            <a:endParaRPr lang="en-US" dirty="0"/>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zh-CN" altLang="en-US"/>
              <a:t>单击此处编辑母版标题样式</a:t>
            </a:r>
            <a:endParaRPr lang="en-US" dirty="0"/>
          </a:p>
        </p:txBody>
      </p:sp>
      <p:sp>
        <p:nvSpPr>
          <p:cNvPr id="8" name="Subtitle 2"/>
          <p:cNvSpPr>
            <a:spLocks noGrp="1"/>
          </p:cNvSpPr>
          <p:nvPr>
            <p:ph type="subTitle" idx="1" hasCustomPrompt="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0F39F4F5-F4D2-4D2A-AB60-88D37ADCB869}" type="datetimeFigureOut">
              <a:rPr lang="en-US" dirty="0"/>
            </a:fld>
            <a:endParaRPr lang="en-US" dirty="0"/>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1120000" y="1825625"/>
            <a:ext cx="5025216"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319840" y="1825625"/>
            <a:ext cx="503396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D23BC6CE-6D1E-47E5-8859-F31AC5380EB2}"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1120000" y="2505075"/>
            <a:ext cx="5025216"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6319840" y="2505075"/>
            <a:ext cx="503554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B1B4E7C4-4DA4-404D-9965-B13F2DD7D8BF}" type="datetimeFigureOut">
              <a:rPr lang="en-US" dirty="0"/>
            </a:fld>
            <a:endParaRPr lang="en-US" dirty="0"/>
          </a:p>
        </p:txBody>
      </p:sp>
      <p:sp>
        <p:nvSpPr>
          <p:cNvPr id="8" name="Footer Placeholder 7"/>
          <p:cNvSpPr>
            <a:spLocks noGrp="1"/>
          </p:cNvSpPr>
          <p:nvPr>
            <p:ph type="ftr" sz="quarter" idx="11"/>
          </p:nvPr>
        </p:nvSpPr>
        <p:spPr/>
        <p:txBody>
          <a:bodyPr/>
          <a:lstStyle/>
          <a:p>
            <a:r>
              <a:rPr lang="en-US" dirty="0"/>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dirty="0"/>
            </a:fld>
            <a:endParaRPr lang="en-US" dirty="0"/>
          </a:p>
        </p:txBody>
      </p:sp>
      <p:sp>
        <p:nvSpPr>
          <p:cNvPr id="4" name="Footer Placeholder 3"/>
          <p:cNvSpPr>
            <a:spLocks noGrp="1"/>
          </p:cNvSpPr>
          <p:nvPr>
            <p:ph type="ftr" sz="quarter" idx="11"/>
          </p:nvPr>
        </p:nvSpPr>
        <p:spPr/>
        <p:txBody>
          <a:bodyPr/>
          <a:lstStyle/>
          <a:p>
            <a:r>
              <a:rPr lang="en-US" dirty="0"/>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dirty="0"/>
            </a:fld>
            <a:endParaRPr lang="en-US" dirty="0"/>
          </a:p>
        </p:txBody>
      </p:sp>
      <p:sp>
        <p:nvSpPr>
          <p:cNvPr id="3" name="Footer Placeholder 2"/>
          <p:cNvSpPr>
            <a:spLocks noGrp="1"/>
          </p:cNvSpPr>
          <p:nvPr>
            <p:ph type="ftr" sz="quarter" idx="11"/>
          </p:nvPr>
        </p:nvSpPr>
        <p:spPr/>
        <p:txBody>
          <a:bodyPr/>
          <a:lstStyle/>
          <a:p>
            <a:r>
              <a:rPr lang="en-US" dirty="0"/>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F7D1BD23-6E54-4D9D-AD88-A2813C73CC25}"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1471A834-4F3C-4AF9-9C74-05EC35A0F292}"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1B80C674-7DFC-42FE-B9CD-82963CDB1557}"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2076456F-F47D-4F25-8053-2A695DA0CA7D}"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zh-CN" altLang="en-US"/>
              <a:t>单击此处编辑母版标题样式</a:t>
            </a:r>
            <a:endParaRPr lang="en-US" dirty="0"/>
          </a:p>
        </p:txBody>
      </p:sp>
      <p:sp>
        <p:nvSpPr>
          <p:cNvPr id="12" name="Text Placeholder 3"/>
          <p:cNvSpPr>
            <a:spLocks noGrp="1"/>
          </p:cNvSpPr>
          <p:nvPr>
            <p:ph type="body" sz="half" idx="13" hasCustomPrompt="1"/>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5D6C7379-69CC-4837-9905-BEBA22830C8A}"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49EB8B7E-8AEE-4F10-BFEE-C999AD004D36}" type="datetimeFigureOut">
              <a:rPr lang="en-US" dirty="0"/>
            </a:fld>
            <a:endParaRPr lang="en-US" dirty="0"/>
          </a:p>
        </p:txBody>
      </p:sp>
      <p:sp>
        <p:nvSpPr>
          <p:cNvPr id="6" name="Footer Placeholder 5"/>
          <p:cNvSpPr>
            <a:spLocks noGrp="1"/>
          </p:cNvSpPr>
          <p:nvPr>
            <p:ph type="ftr" sz="quarter" idx="11"/>
          </p:nvPr>
        </p:nvSpPr>
        <p:spPr/>
        <p:txBody>
          <a:bodyPr/>
          <a:lstStyle/>
          <a:p>
            <a:r>
              <a:rPr lang="en-US" dirty="0"/>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zh-CN" altLang="en-US"/>
              <a:t>单击此处编辑母版标题样式</a:t>
            </a:r>
            <a:endParaRPr lang="en-US" dirty="0"/>
          </a:p>
        </p:txBody>
      </p:sp>
      <p:sp>
        <p:nvSpPr>
          <p:cNvPr id="7" name="Text Placeholder 2"/>
          <p:cNvSpPr>
            <a:spLocks noGrp="1"/>
          </p:cNvSpPr>
          <p:nvPr>
            <p:ph type="body" idx="1" hasCustomPrompt="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8" name="Text Placeholder 3"/>
          <p:cNvSpPr>
            <a:spLocks noGrp="1"/>
          </p:cNvSpPr>
          <p:nvPr>
            <p:ph type="body" sz="half" idx="15" hasCustomPrompt="1"/>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9" name="Text Placeholder 4"/>
          <p:cNvSpPr>
            <a:spLocks noGrp="1"/>
          </p:cNvSpPr>
          <p:nvPr>
            <p:ph type="body" sz="quarter" idx="3" hasCustomPrompt="1"/>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zh-CN" altLang="en-US"/>
              <a:t>编辑母版文本样式</a:t>
            </a:r>
            <a:endParaRPr lang="zh-CN" altLang="en-US"/>
          </a:p>
        </p:txBody>
      </p:sp>
      <p:sp>
        <p:nvSpPr>
          <p:cNvPr id="10" name="Text Placeholder 3"/>
          <p:cNvSpPr>
            <a:spLocks noGrp="1"/>
          </p:cNvSpPr>
          <p:nvPr>
            <p:ph type="body" sz="half" idx="16" hasCustomPrompt="1"/>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1" name="Text Placeholder 4"/>
          <p:cNvSpPr>
            <a:spLocks noGrp="1"/>
          </p:cNvSpPr>
          <p:nvPr>
            <p:ph type="body" sz="quarter" idx="13" hasCustomPrompt="1"/>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zh-CN" altLang="en-US"/>
              <a:t>编辑母版文本样式</a:t>
            </a:r>
            <a:endParaRPr lang="zh-CN" altLang="en-US"/>
          </a:p>
        </p:txBody>
      </p:sp>
      <p:sp>
        <p:nvSpPr>
          <p:cNvPr id="12" name="Text Placeholder 3"/>
          <p:cNvSpPr>
            <a:spLocks noGrp="1"/>
          </p:cNvSpPr>
          <p:nvPr>
            <p:ph type="body" sz="half" idx="17" hasCustomPrompt="1"/>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8668F3F9-58BC-440B-B37B-805B9055EF92}" type="datetimeFigureOut">
              <a:rPr lang="en-US" dirty="0"/>
            </a:fld>
            <a:endParaRPr lang="en-US" dirty="0"/>
          </a:p>
        </p:txBody>
      </p:sp>
      <p:sp>
        <p:nvSpPr>
          <p:cNvPr id="4" name="Footer Placeholder 3"/>
          <p:cNvSpPr>
            <a:spLocks noGrp="1"/>
          </p:cNvSpPr>
          <p:nvPr>
            <p:ph type="ftr" sz="quarter" idx="11"/>
          </p:nvPr>
        </p:nvSpPr>
        <p:spPr/>
        <p:txBody>
          <a:bodyPr/>
          <a:lstStyle/>
          <a:p>
            <a:r>
              <a:rPr lang="en-US" dirty="0"/>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zh-CN" altLang="en-US"/>
              <a:t>单击此处编辑母版标题样式</a:t>
            </a:r>
            <a:endParaRPr lang="en-US" dirty="0"/>
          </a:p>
        </p:txBody>
      </p:sp>
      <p:sp>
        <p:nvSpPr>
          <p:cNvPr id="19" name="Text Placeholder 2"/>
          <p:cNvSpPr>
            <a:spLocks noGrp="1"/>
          </p:cNvSpPr>
          <p:nvPr>
            <p:ph type="body" idx="1" hasCustomPrompt="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hasCustomPrompt="1"/>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2" name="Text Placeholder 4"/>
          <p:cNvSpPr>
            <a:spLocks noGrp="1"/>
          </p:cNvSpPr>
          <p:nvPr>
            <p:ph type="body" sz="quarter" idx="3" hasCustomPrompt="1"/>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hasCustomPrompt="1"/>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5" name="Text Placeholder 4"/>
          <p:cNvSpPr>
            <a:spLocks noGrp="1"/>
          </p:cNvSpPr>
          <p:nvPr>
            <p:ph type="body" sz="quarter" idx="13" hasCustomPrompt="1"/>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hasCustomPrompt="1"/>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0D5A53AF-48EA-489D-8260-9DCAB666386A}" type="datetimeFigureOut">
              <a:rPr lang="en-US" dirty="0"/>
            </a:fld>
            <a:endParaRPr lang="en-US" dirty="0"/>
          </a:p>
        </p:txBody>
      </p:sp>
      <p:sp>
        <p:nvSpPr>
          <p:cNvPr id="4" name="Footer Placeholder 3"/>
          <p:cNvSpPr>
            <a:spLocks noGrp="1"/>
          </p:cNvSpPr>
          <p:nvPr>
            <p:ph type="ftr" sz="quarter" idx="11"/>
          </p:nvPr>
        </p:nvSpPr>
        <p:spPr/>
        <p:txBody>
          <a:bodyPr/>
          <a:lstStyle/>
          <a:p>
            <a:r>
              <a:rPr lang="en-US" dirty="0"/>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dirty="0"/>
            </a:fld>
            <a:endParaRPr lang="en-US" dirty="0"/>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dirty="0"/>
            </a:fld>
            <a:endParaRPr lang="en-US" dirty="0"/>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n-US" dirty="0"/>
              <a:t>
              </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file:///\\link.zhihu.com\?target=http:/github.com"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mailto:git@github.com:HustCst/duyiApp.git"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209799" y="2412829"/>
            <a:ext cx="9144000" cy="1641490"/>
          </a:xfrm>
        </p:spPr>
        <p:txBody>
          <a:bodyPr/>
          <a:lstStyle/>
          <a:p>
            <a:r>
              <a:rPr lang="en-US" altLang="zh-CN" dirty="0" err="1"/>
              <a:t>Git</a:t>
            </a:r>
            <a:r>
              <a:rPr lang="en-US" altLang="zh-CN" dirty="0"/>
              <a:t>                       </a:t>
            </a:r>
            <a:endParaRPr lang="zh-CN" altLang="en-US" dirty="0"/>
          </a:p>
        </p:txBody>
      </p:sp>
      <p:sp>
        <p:nvSpPr>
          <p:cNvPr id="3" name="副标题 2"/>
          <p:cNvSpPr>
            <a:spLocks noGrp="1"/>
          </p:cNvSpPr>
          <p:nvPr>
            <p:ph type="subTitle" idx="1"/>
          </p:nvPr>
        </p:nvSpPr>
        <p:spPr>
          <a:xfrm>
            <a:off x="2209799" y="5265722"/>
            <a:ext cx="9144000" cy="754025"/>
          </a:xfrm>
        </p:spPr>
        <p:txBody>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242874" y="2201662"/>
            <a:ext cx="10413506" cy="3139321"/>
          </a:xfrm>
          <a:prstGeom prst="rect">
            <a:avLst/>
          </a:prstGeom>
          <a:noFill/>
        </p:spPr>
        <p:txBody>
          <a:bodyPr wrap="square" rtlCol="0">
            <a:spAutoFit/>
          </a:bodyPr>
          <a:lstStyle/>
          <a:p>
            <a:r>
              <a:rPr lang="en-US" altLang="zh-CN" dirty="0" err="1"/>
              <a:t>Git</a:t>
            </a:r>
            <a:r>
              <a:rPr lang="zh-CN" altLang="en-US" dirty="0"/>
              <a:t>是目前世界上最先进的分布式版本控制系统</a:t>
            </a:r>
            <a:endParaRPr lang="en-US" altLang="zh-CN" dirty="0"/>
          </a:p>
          <a:p>
            <a:endParaRPr lang="en-US" altLang="zh-CN" dirty="0"/>
          </a:p>
          <a:p>
            <a:endParaRPr lang="en-US" altLang="zh-CN" dirty="0"/>
          </a:p>
          <a:p>
            <a:r>
              <a:rPr lang="zh-CN" altLang="en-US" dirty="0"/>
              <a:t>版本控制系统：</a:t>
            </a:r>
            <a:endParaRPr lang="en-US" altLang="zh-CN" dirty="0"/>
          </a:p>
          <a:p>
            <a:r>
              <a:rPr lang="zh-CN" altLang="en-US" dirty="0"/>
              <a:t>备份（记录多个版本文件的功能）， 记录操作时间线（查看历史操作，进行版本回滚、前进的功能），多端共享代码（代替各种云盘的功能），‘自动’合并（解决多人开发冲突问题）</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038688"/>
            <a:ext cx="10413506" cy="4801314"/>
          </a:xfrm>
          <a:prstGeom prst="rect">
            <a:avLst/>
          </a:prstGeom>
          <a:noFill/>
        </p:spPr>
        <p:txBody>
          <a:bodyPr wrap="square" rtlCol="0">
            <a:spAutoFit/>
          </a:bodyPr>
          <a:lstStyle/>
          <a:p>
            <a:r>
              <a:rPr lang="zh-CN" altLang="en-US" dirty="0"/>
              <a:t>分布式：</a:t>
            </a:r>
            <a:endParaRPr lang="en-US" altLang="zh-CN" dirty="0"/>
          </a:p>
          <a:p>
            <a:endParaRPr lang="en-US" altLang="zh-CN" dirty="0"/>
          </a:p>
          <a:p>
            <a:r>
              <a:rPr lang="zh-CN" altLang="en-US" dirty="0"/>
              <a:t>去中心化，也就是我们所说的分布式。</a:t>
            </a:r>
            <a:r>
              <a:rPr lang="en-US" altLang="zh-CN" dirty="0" err="1"/>
              <a:t>Git</a:t>
            </a:r>
            <a:r>
              <a:rPr lang="zh-CN" altLang="en-US" dirty="0"/>
              <a:t>是没有中心服务器的，每个人机器上都是一个完整的库，我们平时开发代码时的中央服务器其实和我们自己机器上的库内容基本是完全一样的。虽然平时大家都是将代码提交到中央服务器上再统一</a:t>
            </a:r>
            <a:r>
              <a:rPr lang="en-US" altLang="zh-CN" dirty="0"/>
              <a:t>pull</a:t>
            </a:r>
            <a:r>
              <a:rPr lang="zh-CN" altLang="en-US" dirty="0"/>
              <a:t>别人的代码，但实际情况你可以总是</a:t>
            </a:r>
            <a:r>
              <a:rPr lang="en-US" altLang="zh-CN" dirty="0"/>
              <a:t>pull</a:t>
            </a:r>
            <a:r>
              <a:rPr lang="zh-CN" altLang="en-US" dirty="0"/>
              <a:t>张三的库，然后</a:t>
            </a:r>
            <a:r>
              <a:rPr lang="en-US" altLang="zh-CN" dirty="0"/>
              <a:t>push</a:t>
            </a:r>
            <a:r>
              <a:rPr lang="zh-CN" altLang="en-US" dirty="0"/>
              <a:t>给李四等等操作。</a:t>
            </a:r>
            <a:endParaRPr lang="en-US" altLang="zh-CN" dirty="0"/>
          </a:p>
          <a:p>
            <a:endParaRPr lang="en-US" altLang="zh-CN" dirty="0"/>
          </a:p>
          <a:p>
            <a:endParaRPr lang="en-US" altLang="zh-CN" dirty="0"/>
          </a:p>
          <a:p>
            <a:r>
              <a:rPr lang="zh-CN" altLang="en-US" dirty="0"/>
              <a:t>去中心化意味着没有权威、没有主力，所有人都是平等的。这概念本身看起来好像没什么，但实际对社区影响是巨大的，去看看 </a:t>
            </a:r>
            <a:r>
              <a:rPr lang="en-US" altLang="zh-CN" dirty="0">
                <a:hlinkClick r:id="rId1" action="ppaction://hlinkfile"/>
              </a:rPr>
              <a:t>http://github.com</a:t>
            </a:r>
            <a:r>
              <a:rPr lang="zh-CN" altLang="en-US" dirty="0"/>
              <a:t> 上的</a:t>
            </a:r>
            <a:r>
              <a:rPr lang="en-US" altLang="zh-CN" dirty="0"/>
              <a:t>fork</a:t>
            </a:r>
            <a:r>
              <a:rPr lang="zh-CN" altLang="en-US" dirty="0"/>
              <a:t>功能，你可以</a:t>
            </a:r>
            <a:r>
              <a:rPr lang="en-US" altLang="zh-CN" dirty="0"/>
              <a:t>fork</a:t>
            </a:r>
            <a:r>
              <a:rPr lang="zh-CN" altLang="en-US" dirty="0"/>
              <a:t>任何一个你喜欢的项目，接着按自己的喜好修改成自己的项目，或是发起</a:t>
            </a:r>
            <a:r>
              <a:rPr lang="en-US" altLang="zh-CN" dirty="0"/>
              <a:t>pull request</a:t>
            </a:r>
            <a:r>
              <a:rPr lang="zh-CN" altLang="en-US" dirty="0"/>
              <a:t>请原作者</a:t>
            </a:r>
            <a:r>
              <a:rPr lang="en-US" altLang="zh-CN" dirty="0"/>
              <a:t>merge</a:t>
            </a:r>
            <a:r>
              <a:rPr lang="zh-CN" altLang="en-US" dirty="0"/>
              <a:t>你的功能到他们项目里去（这同样也得益于</a:t>
            </a:r>
            <a:r>
              <a:rPr lang="en-US" altLang="zh-CN" dirty="0" err="1"/>
              <a:t>Git</a:t>
            </a:r>
            <a:r>
              <a:rPr lang="zh-CN" altLang="en-US" dirty="0"/>
              <a:t>另一项与</a:t>
            </a:r>
            <a:r>
              <a:rPr lang="en-US" altLang="zh-CN" dirty="0"/>
              <a:t>SVN</a:t>
            </a:r>
            <a:r>
              <a:rPr lang="zh-CN" altLang="en-US" dirty="0"/>
              <a:t>很大不同的功能</a:t>
            </a:r>
            <a:r>
              <a:rPr lang="en-US" altLang="zh-CN" dirty="0"/>
              <a:t>——</a:t>
            </a:r>
            <a:r>
              <a:rPr lang="zh-CN" altLang="en-US" dirty="0"/>
              <a:t>分支策略），而且大多数开源项目都会鼓励你去</a:t>
            </a:r>
            <a:r>
              <a:rPr lang="en-US" altLang="zh-CN" dirty="0"/>
              <a:t>fork</a:t>
            </a:r>
            <a:r>
              <a:rPr lang="zh-CN" altLang="en-US" dirty="0"/>
              <a:t>它们。这里面没有权威，没有主从，所有人只要有兴趣都可以在其他人的基础上去构建更强大或是更有领域针对性的项目。</a:t>
            </a:r>
            <a:endParaRPr lang="zh-CN" altLang="en-US" dirty="0"/>
          </a:p>
          <a:p>
            <a:br>
              <a:rPr lang="zh-CN" altLang="en-US" dirty="0"/>
            </a:br>
            <a:br>
              <a:rPr lang="zh-CN" altLang="en-US" dirty="0"/>
            </a:b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03177" y="488272"/>
            <a:ext cx="10413506" cy="923330"/>
          </a:xfrm>
          <a:prstGeom prst="rect">
            <a:avLst/>
          </a:prstGeom>
          <a:noFill/>
        </p:spPr>
        <p:txBody>
          <a:bodyPr wrap="square" rtlCol="0">
            <a:spAutoFit/>
          </a:bodyPr>
          <a:lstStyle/>
          <a:p>
            <a:r>
              <a:rPr lang="zh-CN" altLang="en-US" dirty="0"/>
              <a:t>在</a:t>
            </a:r>
            <a:r>
              <a:rPr lang="en-US" altLang="zh-CN" dirty="0" err="1"/>
              <a:t>Git</a:t>
            </a:r>
            <a:r>
              <a:rPr lang="zh-CN" altLang="en-US" dirty="0"/>
              <a:t>中，我们将需要进行版本控制的文件目录叫做一个</a:t>
            </a:r>
            <a:r>
              <a:rPr lang="zh-CN" altLang="en-US" b="1" dirty="0"/>
              <a:t>仓库（</a:t>
            </a:r>
            <a:r>
              <a:rPr lang="en-US" altLang="zh-CN" b="1" dirty="0"/>
              <a:t>repository</a:t>
            </a:r>
            <a:r>
              <a:rPr lang="zh-CN" altLang="en-US" b="1" dirty="0"/>
              <a:t>）</a:t>
            </a:r>
            <a:r>
              <a:rPr lang="zh-CN" altLang="en-US" dirty="0"/>
              <a:t>，每个仓库可以简单理解成一个目录，这个目录里面的所有文件都通过</a:t>
            </a:r>
            <a:r>
              <a:rPr lang="en-US" altLang="zh-CN" dirty="0" err="1"/>
              <a:t>Git</a:t>
            </a:r>
            <a:r>
              <a:rPr lang="zh-CN" altLang="en-US" dirty="0"/>
              <a:t>来实现版本管理，</a:t>
            </a:r>
            <a:r>
              <a:rPr lang="en-US" altLang="zh-CN" dirty="0" err="1"/>
              <a:t>Git</a:t>
            </a:r>
            <a:r>
              <a:rPr lang="zh-CN" altLang="en-US" dirty="0"/>
              <a:t>都能跟踪并记录在该目录中发生的所有更新。</a:t>
            </a:r>
            <a:endParaRPr lang="zh-CN" altLang="en-US" dirty="0"/>
          </a:p>
        </p:txBody>
      </p:sp>
      <p:pic>
        <p:nvPicPr>
          <p:cNvPr id="2" name="图片 1"/>
          <p:cNvPicPr>
            <a:picLocks noChangeAspect="1"/>
          </p:cNvPicPr>
          <p:nvPr/>
        </p:nvPicPr>
        <p:blipFill>
          <a:blip r:embed="rId1"/>
          <a:stretch>
            <a:fillRect/>
          </a:stretch>
        </p:blipFill>
        <p:spPr>
          <a:xfrm>
            <a:off x="2209640" y="1528159"/>
            <a:ext cx="7790476" cy="51333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038688"/>
            <a:ext cx="10413506" cy="2862322"/>
          </a:xfrm>
          <a:prstGeom prst="rect">
            <a:avLst/>
          </a:prstGeom>
          <a:noFill/>
        </p:spPr>
        <p:txBody>
          <a:bodyPr wrap="square" rtlCol="0">
            <a:spAutoFit/>
          </a:bodyPr>
          <a:lstStyle/>
          <a:p>
            <a:endParaRPr lang="en-US" altLang="zh-CN" dirty="0"/>
          </a:p>
          <a:p>
            <a:r>
              <a:rPr lang="en-US" altLang="zh-CN" dirty="0" err="1"/>
              <a:t>Git</a:t>
            </a:r>
            <a:r>
              <a:rPr lang="zh-CN" altLang="en-US" dirty="0"/>
              <a:t>是一个快照每次提交后系统都会记录一下这次操作的相关信息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8" name="图片 7"/>
          <p:cNvPicPr>
            <a:picLocks noChangeAspect="1"/>
          </p:cNvPicPr>
          <p:nvPr/>
        </p:nvPicPr>
        <p:blipFill>
          <a:blip r:embed="rId1"/>
          <a:stretch>
            <a:fillRect/>
          </a:stretch>
        </p:blipFill>
        <p:spPr>
          <a:xfrm>
            <a:off x="2538829" y="2595285"/>
            <a:ext cx="6972300" cy="29813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03177" y="612560"/>
            <a:ext cx="10413506" cy="5909310"/>
          </a:xfrm>
          <a:prstGeom prst="rect">
            <a:avLst/>
          </a:prstGeom>
          <a:noFill/>
        </p:spPr>
        <p:txBody>
          <a:bodyPr wrap="square" rtlCol="0">
            <a:spAutoFit/>
          </a:bodyPr>
          <a:lstStyle/>
          <a:p>
            <a:r>
              <a:rPr lang="zh-CN" altLang="en-US" dirty="0"/>
              <a:t>用</a:t>
            </a:r>
            <a:r>
              <a:rPr lang="en-US" altLang="zh-CN" dirty="0" err="1"/>
              <a:t>git</a:t>
            </a:r>
            <a:r>
              <a:rPr lang="zh-CN" altLang="en-US" dirty="0"/>
              <a:t>操纵本地仓库：</a:t>
            </a:r>
            <a:endParaRPr lang="en-US" altLang="zh-CN" dirty="0"/>
          </a:p>
          <a:p>
            <a:endParaRPr lang="en-US" altLang="zh-CN" dirty="0"/>
          </a:p>
          <a:p>
            <a:r>
              <a:rPr lang="en-US" altLang="zh-CN" dirty="0" err="1"/>
              <a:t>git</a:t>
            </a:r>
            <a:r>
              <a:rPr lang="en-US" altLang="zh-CN" dirty="0"/>
              <a:t> </a:t>
            </a:r>
            <a:r>
              <a:rPr lang="en-US" altLang="zh-CN" dirty="0" err="1"/>
              <a:t>init</a:t>
            </a:r>
            <a:r>
              <a:rPr lang="en-US" altLang="zh-CN" dirty="0"/>
              <a:t> </a:t>
            </a:r>
            <a:r>
              <a:rPr lang="zh-CN" altLang="en-US" dirty="0"/>
              <a:t>：创建一个本地仓库</a:t>
            </a:r>
            <a:endParaRPr lang="en-US" altLang="zh-CN" dirty="0"/>
          </a:p>
          <a:p>
            <a:endParaRPr lang="zh-CN" altLang="en-US" dirty="0"/>
          </a:p>
          <a:p>
            <a:r>
              <a:rPr lang="en-US" altLang="zh-CN" dirty="0" err="1"/>
              <a:t>git</a:t>
            </a:r>
            <a:r>
              <a:rPr lang="en-US" altLang="zh-CN" dirty="0"/>
              <a:t> add read.txt</a:t>
            </a:r>
            <a:r>
              <a:rPr lang="zh-CN" altLang="en-US" dirty="0"/>
              <a:t>： 把本地文件（工作区）添加到缓存区</a:t>
            </a:r>
            <a:endParaRPr lang="en-US" altLang="zh-CN" dirty="0"/>
          </a:p>
          <a:p>
            <a:endParaRPr lang="zh-CN" altLang="en-US" dirty="0"/>
          </a:p>
          <a:p>
            <a:r>
              <a:rPr lang="en-US" altLang="zh-CN" dirty="0" err="1"/>
              <a:t>git</a:t>
            </a:r>
            <a:r>
              <a:rPr lang="en-US" altLang="zh-CN" dirty="0"/>
              <a:t> add . : </a:t>
            </a:r>
            <a:r>
              <a:rPr lang="zh-CN" altLang="en-US" dirty="0"/>
              <a:t>把本地所以文件全部添加到缓存区</a:t>
            </a:r>
            <a:endParaRPr lang="en-US" altLang="zh-CN" dirty="0"/>
          </a:p>
          <a:p>
            <a:endParaRPr lang="zh-CN" altLang="en-US" dirty="0"/>
          </a:p>
          <a:p>
            <a:r>
              <a:rPr lang="en-US" altLang="zh-CN" dirty="0" err="1"/>
              <a:t>git</a:t>
            </a:r>
            <a:r>
              <a:rPr lang="en-US" altLang="zh-CN" dirty="0"/>
              <a:t> commit -m 'describe message' </a:t>
            </a:r>
            <a:r>
              <a:rPr lang="zh-CN" altLang="en-US" dirty="0"/>
              <a:t>：真正把缓存区的所有文件都添加到仓库上</a:t>
            </a:r>
            <a:endParaRPr lang="zh-CN" altLang="en-US" dirty="0"/>
          </a:p>
          <a:p>
            <a:endParaRPr lang="zh-CN" altLang="en-US" dirty="0"/>
          </a:p>
          <a:p>
            <a:r>
              <a:rPr lang="en-US" altLang="zh-CN" dirty="0" err="1"/>
              <a:t>git</a:t>
            </a:r>
            <a:r>
              <a:rPr lang="en-US" altLang="zh-CN" dirty="0"/>
              <a:t> status</a:t>
            </a:r>
            <a:r>
              <a:rPr lang="zh-CN" altLang="en-US" dirty="0"/>
              <a:t>： 查看</a:t>
            </a:r>
            <a:r>
              <a:rPr lang="en-US" altLang="zh-CN" dirty="0" err="1"/>
              <a:t>git</a:t>
            </a:r>
            <a:r>
              <a:rPr lang="zh-CN" altLang="en-US" dirty="0"/>
              <a:t>仓库当前的状态</a:t>
            </a:r>
            <a:endParaRPr lang="zh-CN" altLang="en-US" dirty="0"/>
          </a:p>
          <a:p>
            <a:endParaRPr lang="en-US" altLang="zh-CN" dirty="0"/>
          </a:p>
          <a:p>
            <a:r>
              <a:rPr lang="en-US" altLang="zh-CN" b="1" dirty="0" err="1"/>
              <a:t>git</a:t>
            </a:r>
            <a:r>
              <a:rPr lang="en-US" altLang="zh-CN" b="1" dirty="0"/>
              <a:t> diff read.txt: </a:t>
            </a:r>
            <a:r>
              <a:rPr lang="zh-CN" altLang="en-US" b="1" dirty="0"/>
              <a:t>查看文件具体修改了哪里</a:t>
            </a:r>
            <a:endParaRPr lang="zh-CN" altLang="en-US" dirty="0"/>
          </a:p>
          <a:p>
            <a:endParaRPr lang="en-US" altLang="zh-CN" dirty="0"/>
          </a:p>
          <a:p>
            <a:r>
              <a:rPr lang="en-US" altLang="zh-CN" b="1" dirty="0" err="1"/>
              <a:t>git</a:t>
            </a:r>
            <a:r>
              <a:rPr lang="en-US" altLang="zh-CN" b="1" dirty="0"/>
              <a:t> log</a:t>
            </a:r>
            <a:r>
              <a:rPr lang="zh-CN" altLang="en-US" b="1" dirty="0"/>
              <a:t>：查看最近到最远提交到仓库的文件信息（一串数字为特有的时间序列</a:t>
            </a:r>
            <a:r>
              <a:rPr lang="en-US" altLang="zh-CN" b="1" dirty="0"/>
              <a:t>id </a:t>
            </a:r>
            <a:r>
              <a:rPr lang="zh-CN" altLang="en-US" b="1" dirty="0"/>
              <a:t>可以根据它进行版本前后回滚）</a:t>
            </a:r>
            <a:endParaRPr lang="zh-CN" altLang="en-US" dirty="0"/>
          </a:p>
          <a:p>
            <a:endParaRPr lang="en-US" altLang="zh-CN" dirty="0"/>
          </a:p>
          <a:p>
            <a:r>
              <a:rPr lang="en-US" altLang="zh-CN" b="1" dirty="0" err="1"/>
              <a:t>git</a:t>
            </a:r>
            <a:r>
              <a:rPr lang="en-US" altLang="zh-CN" b="1" dirty="0"/>
              <a:t> reset --hard HEAD^</a:t>
            </a:r>
            <a:r>
              <a:rPr lang="zh-CN" altLang="en-US" b="1" dirty="0"/>
              <a:t>： 回退到上一次 </a:t>
            </a:r>
            <a:r>
              <a:rPr lang="en-US" altLang="zh-CN" b="1" dirty="0"/>
              <a:t>commit</a:t>
            </a:r>
            <a:r>
              <a:rPr lang="zh-CN" altLang="en-US" b="1" dirty="0"/>
              <a:t>的时候</a:t>
            </a:r>
            <a:endParaRPr lang="zh-CN" altLang="en-US" dirty="0"/>
          </a:p>
          <a:p>
            <a:endParaRPr lang="en-US" altLang="zh-CN" dirty="0"/>
          </a:p>
          <a:p>
            <a:r>
              <a:rPr lang="en-US" altLang="zh-CN" b="1" dirty="0" err="1"/>
              <a:t>git</a:t>
            </a:r>
            <a:r>
              <a:rPr lang="en-US" altLang="zh-CN" b="1" dirty="0"/>
              <a:t> reset --hard </a:t>
            </a:r>
            <a:r>
              <a:rPr lang="en-US" altLang="zh-CN" b="1" dirty="0" err="1"/>
              <a:t>bdeacd</a:t>
            </a:r>
            <a:r>
              <a:rPr lang="en-US" altLang="zh-CN" b="1" dirty="0"/>
              <a:t>: </a:t>
            </a:r>
            <a:r>
              <a:rPr lang="zh-CN" altLang="en-US" b="1" dirty="0"/>
              <a:t>版本前进 只能根据 </a:t>
            </a:r>
            <a:r>
              <a:rPr lang="en-US" altLang="zh-CN" b="1" dirty="0"/>
              <a:t>id</a:t>
            </a:r>
            <a:r>
              <a:rPr lang="zh-CN" altLang="en-US" b="1" dirty="0"/>
              <a:t>进行前进（</a:t>
            </a:r>
            <a:r>
              <a:rPr lang="en-US" altLang="zh-CN" b="1" dirty="0"/>
              <a:t>id</a:t>
            </a:r>
            <a:r>
              <a:rPr lang="zh-CN" altLang="en-US" b="1" dirty="0"/>
              <a:t>只写出前六位就好了）</a:t>
            </a:r>
            <a:endParaRPr lang="zh-CN" altLang="en-US" dirty="0"/>
          </a:p>
          <a:p>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038688"/>
            <a:ext cx="10413506" cy="3139321"/>
          </a:xfrm>
          <a:prstGeom prst="rect">
            <a:avLst/>
          </a:prstGeom>
          <a:noFill/>
        </p:spPr>
        <p:txBody>
          <a:bodyPr wrap="square" rtlCol="0">
            <a:spAutoFit/>
          </a:bodyPr>
          <a:lstStyle/>
          <a:p>
            <a:r>
              <a:rPr lang="en-US" altLang="zh-CN" b="1" dirty="0" err="1"/>
              <a:t>git</a:t>
            </a:r>
            <a:r>
              <a:rPr lang="en-US" altLang="zh-CN" b="1" dirty="0"/>
              <a:t> </a:t>
            </a:r>
            <a:r>
              <a:rPr lang="en-US" altLang="zh-CN" b="1" dirty="0" err="1"/>
              <a:t>reflog</a:t>
            </a:r>
            <a:r>
              <a:rPr lang="zh-CN" altLang="en-US" b="1" dirty="0"/>
              <a:t>：查看每次操作仓库内的信息（</a:t>
            </a:r>
            <a:r>
              <a:rPr lang="en-US" altLang="zh-CN" b="1" dirty="0"/>
              <a:t>commit</a:t>
            </a:r>
            <a:r>
              <a:rPr lang="zh-CN" altLang="en-US" b="1" dirty="0"/>
              <a:t>） 这样的话当黑窗口没了的时候，也可以查询具体操作信息，进行版本回退或者前进</a:t>
            </a:r>
            <a:r>
              <a:rPr lang="en-US" altLang="zh-CN" b="1" dirty="0"/>
              <a:t>!</a:t>
            </a:r>
            <a:endParaRPr lang="en-US" altLang="zh-CN" b="1" dirty="0"/>
          </a:p>
          <a:p>
            <a:endParaRPr lang="en-US" altLang="zh-CN" b="1" dirty="0">
              <a:effectLst/>
            </a:endParaRPr>
          </a:p>
          <a:p>
            <a:endParaRPr lang="en-US" altLang="zh-CN" b="1" dirty="0"/>
          </a:p>
          <a:p>
            <a:r>
              <a:rPr lang="en-US" altLang="zh-CN" b="1" dirty="0" err="1"/>
              <a:t>git</a:t>
            </a:r>
            <a:r>
              <a:rPr lang="en-US" altLang="zh-CN" b="1" dirty="0"/>
              <a:t> checkout -- read.txt: </a:t>
            </a:r>
            <a:r>
              <a:rPr lang="zh-CN" altLang="en-US" b="1" dirty="0"/>
              <a:t>工作区恢复到最近一次的</a:t>
            </a:r>
            <a:r>
              <a:rPr lang="en-US" altLang="zh-CN" b="1" dirty="0"/>
              <a:t>commit</a:t>
            </a:r>
            <a:r>
              <a:rPr lang="zh-CN" altLang="en-US" b="1" dirty="0"/>
              <a:t>或者</a:t>
            </a:r>
            <a:r>
              <a:rPr lang="en-US" altLang="zh-CN" b="1" dirty="0"/>
              <a:t>add</a:t>
            </a:r>
            <a:endParaRPr lang="en-US" altLang="zh-CN" dirty="0"/>
          </a:p>
          <a:p>
            <a:endParaRPr lang="en-US" altLang="zh-CN" dirty="0">
              <a:effectLst/>
            </a:endParaRPr>
          </a:p>
          <a:p>
            <a:r>
              <a:rPr lang="en-US" altLang="zh-CN" b="1" dirty="0" err="1"/>
              <a:t>git</a:t>
            </a:r>
            <a:r>
              <a:rPr lang="en-US" altLang="zh-CN" b="1" dirty="0"/>
              <a:t> </a:t>
            </a:r>
            <a:r>
              <a:rPr lang="en-US" altLang="zh-CN" b="1" dirty="0" err="1"/>
              <a:t>rm</a:t>
            </a:r>
            <a:r>
              <a:rPr lang="en-US" altLang="zh-CN" b="1" dirty="0"/>
              <a:t> read.txt: </a:t>
            </a:r>
            <a:r>
              <a:rPr lang="zh-CN" altLang="en-US" b="1" dirty="0"/>
              <a:t>删除某一个文件</a:t>
            </a:r>
            <a:endParaRPr lang="zh-CN" altLang="en-US" dirty="0"/>
          </a:p>
          <a:p>
            <a:endParaRPr lang="en-US" altLang="zh-CN" dirty="0">
              <a:effectLst/>
            </a:endParaRPr>
          </a:p>
          <a:p>
            <a:br>
              <a:rPr lang="zh-CN" altLang="en-US" dirty="0"/>
            </a:br>
            <a:endParaRPr lang="zh-CN" altLang="en-US" dirty="0"/>
          </a:p>
          <a:p>
            <a:endParaRPr lang="zh-CN" altLang="en-US" dirty="0">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038688"/>
            <a:ext cx="10413506" cy="4247317"/>
          </a:xfrm>
          <a:prstGeom prst="rect">
            <a:avLst/>
          </a:prstGeom>
          <a:noFill/>
        </p:spPr>
        <p:txBody>
          <a:bodyPr wrap="square" rtlCol="0">
            <a:spAutoFit/>
          </a:bodyPr>
          <a:lstStyle/>
          <a:p>
            <a:r>
              <a:rPr lang="en-US" altLang="zh-CN" b="1" dirty="0" err="1"/>
              <a:t>git</a:t>
            </a:r>
            <a:r>
              <a:rPr lang="en-US" altLang="zh-CN" b="1" dirty="0"/>
              <a:t> branch dev: </a:t>
            </a:r>
            <a:r>
              <a:rPr lang="zh-CN" altLang="en-US" b="1" dirty="0"/>
              <a:t>创建</a:t>
            </a:r>
            <a:r>
              <a:rPr lang="en-US" altLang="zh-CN" b="1" dirty="0"/>
              <a:t>dev</a:t>
            </a:r>
            <a:r>
              <a:rPr lang="zh-CN" altLang="en-US" b="1" dirty="0"/>
              <a:t>分支</a:t>
            </a:r>
            <a:endParaRPr lang="zh-CN" altLang="en-US" dirty="0"/>
          </a:p>
          <a:p>
            <a:endParaRPr lang="zh-CN" altLang="en-US" dirty="0"/>
          </a:p>
          <a:p>
            <a:r>
              <a:rPr lang="en-US" altLang="zh-CN" b="1" dirty="0" err="1"/>
              <a:t>git</a:t>
            </a:r>
            <a:r>
              <a:rPr lang="en-US" altLang="zh-CN" b="1" dirty="0"/>
              <a:t> checkout dev</a:t>
            </a:r>
            <a:r>
              <a:rPr lang="zh-CN" altLang="en-US" b="1" dirty="0"/>
              <a:t>： 切换到</a:t>
            </a:r>
            <a:r>
              <a:rPr lang="en-US" altLang="zh-CN" b="1" dirty="0"/>
              <a:t>dev</a:t>
            </a:r>
            <a:r>
              <a:rPr lang="zh-CN" altLang="en-US" b="1" dirty="0"/>
              <a:t>分支上开发</a:t>
            </a:r>
            <a:endParaRPr lang="en-US" altLang="zh-CN" b="1" dirty="0"/>
          </a:p>
          <a:p>
            <a:endParaRPr lang="en-US" altLang="zh-CN" b="1" dirty="0"/>
          </a:p>
          <a:p>
            <a:r>
              <a:rPr lang="en-US" altLang="zh-CN" b="1" dirty="0" err="1"/>
              <a:t>git</a:t>
            </a:r>
            <a:r>
              <a:rPr lang="en-US" altLang="zh-CN" b="1" dirty="0"/>
              <a:t> branch</a:t>
            </a:r>
            <a:r>
              <a:rPr lang="zh-CN" altLang="en-US" b="1" dirty="0"/>
              <a:t>：查看所有分支</a:t>
            </a:r>
            <a:endParaRPr lang="zh-CN" altLang="en-US" dirty="0"/>
          </a:p>
          <a:p>
            <a:endParaRPr lang="en-US" altLang="zh-CN" dirty="0"/>
          </a:p>
          <a:p>
            <a:r>
              <a:rPr lang="en-US" altLang="zh-CN" b="1" dirty="0" err="1"/>
              <a:t>git</a:t>
            </a:r>
            <a:r>
              <a:rPr lang="en-US" altLang="zh-CN" b="1" dirty="0"/>
              <a:t> </a:t>
            </a:r>
            <a:r>
              <a:rPr lang="en-US" altLang="zh-CN" b="1" dirty="0" err="1"/>
              <a:t>branh</a:t>
            </a:r>
            <a:r>
              <a:rPr lang="en-US" altLang="zh-CN" b="1" dirty="0"/>
              <a:t> -d dev</a:t>
            </a:r>
            <a:r>
              <a:rPr lang="zh-CN" altLang="en-US" b="1" dirty="0"/>
              <a:t>：删除分支 （</a:t>
            </a:r>
            <a:r>
              <a:rPr lang="en-US" altLang="zh-CN" b="1" dirty="0"/>
              <a:t>-D </a:t>
            </a:r>
            <a:r>
              <a:rPr lang="zh-CN" altLang="en-US" b="1" dirty="0"/>
              <a:t>强制删除）</a:t>
            </a:r>
            <a:endParaRPr lang="en-US" altLang="zh-CN" b="1" dirty="0"/>
          </a:p>
          <a:p>
            <a:endParaRPr lang="en-US" altLang="zh-CN" b="1" dirty="0"/>
          </a:p>
          <a:p>
            <a:r>
              <a:rPr lang="en-US" altLang="zh-CN" b="1" dirty="0" err="1"/>
              <a:t>git</a:t>
            </a:r>
            <a:r>
              <a:rPr lang="en-US" altLang="zh-CN" b="1" dirty="0"/>
              <a:t> merge dev: </a:t>
            </a:r>
            <a:r>
              <a:rPr lang="zh-CN" altLang="en-US" b="1" dirty="0"/>
              <a:t>合并分支</a:t>
            </a:r>
            <a:endParaRPr lang="en-US" altLang="zh-CN" b="1" dirty="0"/>
          </a:p>
          <a:p>
            <a:endParaRPr lang="en-US" altLang="zh-CN" b="1" dirty="0"/>
          </a:p>
          <a:p>
            <a:endParaRPr lang="zh-CN" altLang="en-US" dirty="0"/>
          </a:p>
          <a:p>
            <a:endParaRPr lang="zh-CN" altLang="en-US" dirty="0"/>
          </a:p>
          <a:p>
            <a:br>
              <a:rPr lang="zh-CN" altLang="en-US" dirty="0"/>
            </a:br>
            <a:endParaRPr lang="zh-CN" altLang="en-US" dirty="0"/>
          </a:p>
          <a:p>
            <a:endParaRPr lang="zh-CN" altLang="en-US" dirty="0"/>
          </a:p>
        </p:txBody>
      </p:sp>
      <p:pic>
        <p:nvPicPr>
          <p:cNvPr id="2" name="图片 1"/>
          <p:cNvPicPr>
            <a:picLocks noChangeAspect="1"/>
          </p:cNvPicPr>
          <p:nvPr/>
        </p:nvPicPr>
        <p:blipFill>
          <a:blip r:embed="rId1"/>
          <a:stretch>
            <a:fillRect/>
          </a:stretch>
        </p:blipFill>
        <p:spPr>
          <a:xfrm>
            <a:off x="3217600" y="3985149"/>
            <a:ext cx="4762500" cy="2705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038688"/>
            <a:ext cx="10413506" cy="2862322"/>
          </a:xfrm>
          <a:prstGeom prst="rect">
            <a:avLst/>
          </a:prstGeom>
          <a:noFill/>
        </p:spPr>
        <p:txBody>
          <a:bodyPr wrap="square" rtlCol="0">
            <a:spAutoFit/>
          </a:bodyPr>
          <a:lstStyle/>
          <a:p>
            <a:r>
              <a:rPr lang="zh-CN" altLang="en-US" dirty="0"/>
              <a:t>如果在开发的过程中发现主分支</a:t>
            </a:r>
            <a:r>
              <a:rPr lang="en-US" altLang="zh-CN" dirty="0"/>
              <a:t>master</a:t>
            </a:r>
            <a:r>
              <a:rPr lang="zh-CN" altLang="en-US" dirty="0"/>
              <a:t>上右</a:t>
            </a:r>
            <a:r>
              <a:rPr lang="en-US" altLang="zh-CN" dirty="0"/>
              <a:t>bug</a:t>
            </a:r>
            <a:r>
              <a:rPr lang="zh-CN" altLang="en-US" dirty="0"/>
              <a:t>但正在开发的</a:t>
            </a:r>
            <a:r>
              <a:rPr lang="en-US" altLang="zh-CN" dirty="0"/>
              <a:t>dev</a:t>
            </a:r>
            <a:r>
              <a:rPr lang="zh-CN" altLang="en-US" dirty="0"/>
              <a:t>分支没开发完怎们办，切记一点不要在</a:t>
            </a:r>
            <a:r>
              <a:rPr lang="en-US" altLang="zh-CN" dirty="0"/>
              <a:t>master</a:t>
            </a:r>
            <a:r>
              <a:rPr lang="zh-CN" altLang="en-US" dirty="0"/>
              <a:t>分支上直接开发，保存</a:t>
            </a:r>
            <a:r>
              <a:rPr lang="en-US" altLang="zh-CN" dirty="0"/>
              <a:t>dev</a:t>
            </a:r>
            <a:r>
              <a:rPr lang="zh-CN" altLang="en-US" dirty="0"/>
              <a:t>工作现场回到</a:t>
            </a:r>
            <a:r>
              <a:rPr lang="en-US" altLang="zh-CN" dirty="0"/>
              <a:t>master</a:t>
            </a:r>
            <a:r>
              <a:rPr lang="zh-CN" altLang="en-US" dirty="0"/>
              <a:t>上创建解决</a:t>
            </a:r>
            <a:r>
              <a:rPr lang="en-US" altLang="zh-CN" dirty="0"/>
              <a:t>bug</a:t>
            </a:r>
            <a:r>
              <a:rPr lang="zh-CN" altLang="en-US" dirty="0"/>
              <a:t>的分支如</a:t>
            </a:r>
            <a:r>
              <a:rPr lang="en-US" altLang="zh-CN" dirty="0"/>
              <a:t>issue</a:t>
            </a:r>
            <a:r>
              <a:rPr lang="zh-CN" altLang="en-US" dirty="0"/>
              <a:t>分支解决完回到</a:t>
            </a:r>
            <a:r>
              <a:rPr lang="en-US" altLang="zh-CN" dirty="0"/>
              <a:t>master</a:t>
            </a:r>
            <a:r>
              <a:rPr lang="zh-CN" altLang="en-US" dirty="0"/>
              <a:t>分支把</a:t>
            </a:r>
            <a:r>
              <a:rPr lang="en-US" altLang="zh-CN" dirty="0"/>
              <a:t>issue</a:t>
            </a:r>
            <a:r>
              <a:rPr lang="zh-CN" altLang="en-US" dirty="0"/>
              <a:t>分支合并再回到</a:t>
            </a:r>
            <a:r>
              <a:rPr lang="en-US" altLang="zh-CN" dirty="0"/>
              <a:t>dev</a:t>
            </a:r>
            <a:r>
              <a:rPr lang="zh-CN" altLang="en-US" dirty="0"/>
              <a:t>恢复现场</a:t>
            </a:r>
            <a:endParaRPr lang="en-US" altLang="zh-CN" dirty="0"/>
          </a:p>
          <a:p>
            <a:endParaRPr lang="en-US" altLang="zh-CN" dirty="0"/>
          </a:p>
          <a:p>
            <a:endParaRPr lang="en-US" altLang="zh-CN" dirty="0"/>
          </a:p>
          <a:p>
            <a:endParaRPr lang="en-US" altLang="zh-CN" dirty="0"/>
          </a:p>
          <a:p>
            <a:r>
              <a:rPr lang="en-US" altLang="zh-CN" dirty="0" err="1"/>
              <a:t>git</a:t>
            </a:r>
            <a:r>
              <a:rPr lang="en-US" altLang="zh-CN" dirty="0"/>
              <a:t> stash</a:t>
            </a:r>
            <a:r>
              <a:rPr lang="zh-CN" altLang="en-US" dirty="0"/>
              <a:t>：保存工作现场；</a:t>
            </a:r>
            <a:endParaRPr lang="en-US" altLang="zh-CN" dirty="0"/>
          </a:p>
          <a:p>
            <a:endParaRPr lang="en-US" altLang="zh-CN" dirty="0"/>
          </a:p>
          <a:p>
            <a:r>
              <a:rPr lang="en-US" altLang="zh-CN" dirty="0" err="1"/>
              <a:t>git</a:t>
            </a:r>
            <a:r>
              <a:rPr lang="en-US" altLang="zh-CN" dirty="0"/>
              <a:t> pop</a:t>
            </a:r>
            <a:r>
              <a:rPr lang="zh-CN" altLang="en-US" dirty="0"/>
              <a:t>：恢复工作现场；</a:t>
            </a:r>
            <a:endParaRPr lang="en-US" altLang="zh-CN" dirty="0"/>
          </a:p>
          <a:p>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368473"/>
            <a:ext cx="10413506" cy="4799965"/>
          </a:xfrm>
          <a:prstGeom prst="rect">
            <a:avLst/>
          </a:prstGeom>
          <a:noFill/>
        </p:spPr>
        <p:txBody>
          <a:bodyPr wrap="square" rtlCol="0">
            <a:spAutoFit/>
          </a:bodyPr>
          <a:lstStyle/>
          <a:p>
            <a:r>
              <a:rPr lang="zh-CN" altLang="en-US" dirty="0"/>
              <a:t>本地仓库配合远程仓库进行操作</a:t>
            </a:r>
            <a:r>
              <a:rPr lang="en-US" altLang="zh-CN" dirty="0"/>
              <a:t>-</a:t>
            </a:r>
            <a:r>
              <a:rPr lang="en-US" altLang="zh-CN" dirty="0" err="1"/>
              <a:t>github</a:t>
            </a:r>
            <a:r>
              <a:rPr lang="zh-CN" altLang="en-US" dirty="0"/>
              <a:t>（现成而且较好的远程仓库，也是世界上最大的开源社区）</a:t>
            </a:r>
            <a:endParaRPr lang="en-US" altLang="zh-CN" dirty="0"/>
          </a:p>
          <a:p>
            <a:endParaRPr lang="en-US" altLang="zh-CN" dirty="0"/>
          </a:p>
          <a:p>
            <a:endParaRPr lang="en-US" altLang="zh-CN" dirty="0"/>
          </a:p>
          <a:p>
            <a:r>
              <a:rPr lang="zh-CN" altLang="en-US" dirty="0"/>
              <a:t>远程仓库上也有主分支</a:t>
            </a:r>
            <a:r>
              <a:rPr lang="en-US" altLang="zh-CN" dirty="0"/>
              <a:t>master</a:t>
            </a:r>
            <a:r>
              <a:rPr lang="zh-CN" altLang="en-US" dirty="0"/>
              <a:t>， 和 其他分支如</a:t>
            </a:r>
            <a:r>
              <a:rPr lang="en-US" altLang="zh-CN" dirty="0"/>
              <a:t>dev</a:t>
            </a:r>
            <a:r>
              <a:rPr lang="zh-CN" altLang="en-US" dirty="0"/>
              <a:t>。那本地仓库和远程仓库如何关联呢，开发流程是什么样的呢。我们先来分析以下基本流程</a:t>
            </a:r>
            <a:endParaRPr lang="en-US" altLang="zh-CN" dirty="0"/>
          </a:p>
          <a:p>
            <a:endParaRPr lang="en-US" altLang="zh-CN" dirty="0"/>
          </a:p>
          <a:p>
            <a:r>
              <a:rPr lang="en-US" altLang="zh-CN" dirty="0"/>
              <a:t>1.</a:t>
            </a:r>
            <a:r>
              <a:rPr lang="zh-CN" altLang="en-US" dirty="0"/>
              <a:t>首先要再</a:t>
            </a:r>
            <a:r>
              <a:rPr lang="en-US" altLang="zh-CN" dirty="0" err="1"/>
              <a:t>github</a:t>
            </a:r>
            <a:r>
              <a:rPr lang="zh-CN" altLang="en-US" dirty="0"/>
              <a:t>上创建远程仓库用来存储项目，和本地电脑达成信任关系（</a:t>
            </a:r>
            <a:r>
              <a:rPr lang="en-US" altLang="zh-CN" dirty="0" err="1"/>
              <a:t>ssh</a:t>
            </a:r>
            <a:r>
              <a:rPr lang="zh-CN" altLang="en-US" dirty="0"/>
              <a:t>）</a:t>
            </a:r>
            <a:endParaRPr lang="en-US" altLang="zh-CN" dirty="0"/>
          </a:p>
          <a:p>
            <a:endParaRPr lang="en-US" altLang="zh-CN" dirty="0"/>
          </a:p>
          <a:p>
            <a:r>
              <a:rPr lang="en-US" altLang="zh-CN" dirty="0"/>
              <a:t>2.</a:t>
            </a:r>
            <a:r>
              <a:rPr lang="zh-CN" altLang="en-US" dirty="0"/>
              <a:t>可以通过</a:t>
            </a:r>
            <a:r>
              <a:rPr lang="en-US" altLang="zh-CN" dirty="0" err="1"/>
              <a:t>git</a:t>
            </a:r>
            <a:r>
              <a:rPr lang="en-US" altLang="zh-CN" dirty="0"/>
              <a:t> clone</a:t>
            </a:r>
            <a:r>
              <a:rPr lang="zh-CN" altLang="en-US" dirty="0"/>
              <a:t>远程仓库（</a:t>
            </a:r>
            <a:r>
              <a:rPr lang="en-US" altLang="zh-CN" dirty="0" err="1"/>
              <a:t>git</a:t>
            </a:r>
            <a:r>
              <a:rPr lang="en-US" altLang="zh-CN" dirty="0"/>
              <a:t> clone </a:t>
            </a:r>
            <a:r>
              <a:rPr lang="en-US" altLang="zh-CN" dirty="0" err="1">
                <a:hlinkClick r:id="rId1"/>
              </a:rPr>
              <a:t>git@github.com:HustCst</a:t>
            </a:r>
            <a:r>
              <a:rPr lang="en-US" altLang="zh-CN" dirty="0">
                <a:hlinkClick r:id="rId1"/>
              </a:rPr>
              <a:t>/</a:t>
            </a:r>
            <a:r>
              <a:rPr lang="en-US" altLang="zh-CN" dirty="0" err="1">
                <a:hlinkClick r:id="rId1"/>
              </a:rPr>
              <a:t>duyiApp.git</a:t>
            </a:r>
            <a:r>
              <a:rPr lang="zh-CN" altLang="en-US" dirty="0"/>
              <a:t>）或者通过</a:t>
            </a:r>
            <a:r>
              <a:rPr lang="en-US" altLang="zh-CN" dirty="0" err="1"/>
              <a:t>git</a:t>
            </a:r>
            <a:r>
              <a:rPr lang="en-US" altLang="zh-CN" dirty="0"/>
              <a:t> remote add origin </a:t>
            </a:r>
            <a:r>
              <a:rPr lang="en-US" altLang="zh-CN" dirty="0" err="1">
                <a:hlinkClick r:id="rId1"/>
              </a:rPr>
              <a:t>git@github.com:HustCst</a:t>
            </a:r>
            <a:r>
              <a:rPr lang="en-US" altLang="zh-CN" dirty="0">
                <a:hlinkClick r:id="rId1"/>
              </a:rPr>
              <a:t>/</a:t>
            </a:r>
            <a:r>
              <a:rPr lang="en-US" altLang="zh-CN" dirty="0" err="1">
                <a:hlinkClick r:id="rId1"/>
              </a:rPr>
              <a:t>duyiApp.git</a:t>
            </a:r>
            <a:r>
              <a:rPr lang="zh-CN" altLang="en-US" dirty="0"/>
              <a:t>，是本地仓库和远程仓库相关联，</a:t>
            </a:r>
            <a:r>
              <a:rPr lang="en-US" altLang="zh-CN" dirty="0" err="1"/>
              <a:t>git</a:t>
            </a:r>
            <a:r>
              <a:rPr lang="en-US" altLang="zh-CN" dirty="0"/>
              <a:t> pull origin master</a:t>
            </a:r>
            <a:r>
              <a:rPr lang="zh-CN" altLang="en-US" dirty="0"/>
              <a:t>，本地才有</a:t>
            </a:r>
            <a:r>
              <a:rPr lang="en-US" altLang="zh-CN" dirty="0"/>
              <a:t>master</a:t>
            </a:r>
            <a:r>
              <a:rPr lang="zh-CN" altLang="en-US"/>
              <a:t>分支！</a:t>
            </a:r>
            <a:endParaRPr lang="en-US" altLang="zh-CN" dirty="0"/>
          </a:p>
          <a:p>
            <a:endParaRPr lang="en-US" altLang="zh-CN" dirty="0"/>
          </a:p>
          <a:p>
            <a:r>
              <a:rPr lang="en-US" altLang="zh-CN" dirty="0"/>
              <a:t>3.</a:t>
            </a:r>
            <a:r>
              <a:rPr lang="zh-CN" altLang="en-US" dirty="0"/>
              <a:t>之后再本地</a:t>
            </a:r>
            <a:r>
              <a:rPr lang="en-US" altLang="zh-CN" dirty="0"/>
              <a:t>master</a:t>
            </a:r>
            <a:r>
              <a:rPr lang="zh-CN" altLang="en-US" dirty="0"/>
              <a:t>分支上的代码上传到 远程仓库上的</a:t>
            </a:r>
            <a:r>
              <a:rPr lang="en-US" altLang="zh-CN" dirty="0"/>
              <a:t>master</a:t>
            </a:r>
            <a:r>
              <a:rPr lang="zh-CN" altLang="en-US" dirty="0"/>
              <a:t>分支 第一次上传使用 </a:t>
            </a:r>
            <a:r>
              <a:rPr lang="en-US" altLang="zh-CN" dirty="0" err="1"/>
              <a:t>git</a:t>
            </a:r>
            <a:r>
              <a:rPr lang="en-US" altLang="zh-CN" dirty="0"/>
              <a:t> push –u origin master</a:t>
            </a:r>
            <a:r>
              <a:rPr lang="zh-CN" altLang="en-US" dirty="0"/>
              <a:t>，之后可以简化命令，把</a:t>
            </a:r>
            <a:r>
              <a:rPr lang="en-US" altLang="zh-CN" dirty="0"/>
              <a:t>-u</a:t>
            </a:r>
            <a:r>
              <a:rPr lang="zh-CN" altLang="en-US" dirty="0"/>
              <a:t>去掉。（如果仓库里本身就有文件，但是我们不要了，而是想把远程的代码上传上去，我们可以通过 </a:t>
            </a:r>
            <a:r>
              <a:rPr lang="en-US" altLang="zh-CN" dirty="0" err="1"/>
              <a:t>git</a:t>
            </a:r>
            <a:r>
              <a:rPr lang="en-US" altLang="zh-CN" dirty="0"/>
              <a:t> push origin master –f </a:t>
            </a:r>
            <a:r>
              <a:rPr lang="zh-CN" altLang="en-US" dirty="0"/>
              <a:t>强行让</a:t>
            </a:r>
            <a:r>
              <a:rPr lang="en-US" altLang="zh-CN" dirty="0"/>
              <a:t>master</a:t>
            </a:r>
            <a:r>
              <a:rPr lang="zh-CN" altLang="en-US" dirty="0"/>
              <a:t>分支上的本地文件覆盖远程</a:t>
            </a:r>
            <a:r>
              <a:rPr lang="en-US" altLang="zh-CN" dirty="0"/>
              <a:t>master</a:t>
            </a:r>
            <a:r>
              <a:rPr lang="zh-CN" altLang="en-US" dirty="0"/>
              <a:t>分支上的文件）</a:t>
            </a:r>
            <a:endParaRPr lang="en-US" altLang="zh-CN" dirty="0"/>
          </a:p>
          <a:p>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rot="-5400000">
            <a:off x="3505200" y="-17756"/>
            <a:ext cx="51435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20932" y="1038688"/>
            <a:ext cx="10413506" cy="5632311"/>
          </a:xfrm>
          <a:prstGeom prst="rect">
            <a:avLst/>
          </a:prstGeom>
          <a:noFill/>
        </p:spPr>
        <p:txBody>
          <a:bodyPr wrap="square" rtlCol="0">
            <a:spAutoFit/>
          </a:bodyPr>
          <a:lstStyle/>
          <a:p>
            <a:r>
              <a:rPr lang="zh-CN" altLang="en-US" dirty="0"/>
              <a:t>小公司开发流程：</a:t>
            </a:r>
            <a:endParaRPr lang="en-US" altLang="zh-CN" dirty="0"/>
          </a:p>
          <a:p>
            <a:r>
              <a:rPr lang="zh-CN" altLang="en-US" dirty="0"/>
              <a:t>个人开发：</a:t>
            </a:r>
            <a:endParaRPr lang="en-US" altLang="zh-CN" dirty="0"/>
          </a:p>
          <a:p>
            <a:r>
              <a:rPr lang="zh-CN" altLang="en-US" dirty="0"/>
              <a:t>再本地</a:t>
            </a:r>
            <a:r>
              <a:rPr lang="en-US" altLang="zh-CN" dirty="0"/>
              <a:t>master</a:t>
            </a:r>
            <a:r>
              <a:rPr lang="zh-CN" altLang="en-US" dirty="0"/>
              <a:t>分支上创建一个新的分支</a:t>
            </a:r>
            <a:r>
              <a:rPr lang="en-US" altLang="zh-CN" dirty="0"/>
              <a:t>dev </a:t>
            </a:r>
            <a:r>
              <a:rPr lang="zh-CN" altLang="en-US" dirty="0"/>
              <a:t>开发完毕后合并到</a:t>
            </a:r>
            <a:r>
              <a:rPr lang="en-US" altLang="zh-CN" dirty="0"/>
              <a:t>master</a:t>
            </a:r>
            <a:r>
              <a:rPr lang="zh-CN" altLang="en-US" dirty="0"/>
              <a:t>分支上，把</a:t>
            </a:r>
            <a:r>
              <a:rPr lang="en-US" altLang="zh-CN" dirty="0"/>
              <a:t>master</a:t>
            </a:r>
            <a:r>
              <a:rPr lang="zh-CN" altLang="en-US" dirty="0"/>
              <a:t>分支直接推送到远程</a:t>
            </a:r>
            <a:r>
              <a:rPr lang="en-US" altLang="zh-CN" dirty="0"/>
              <a:t>master</a:t>
            </a:r>
            <a:r>
              <a:rPr lang="zh-CN" altLang="en-US" dirty="0"/>
              <a:t>分支上，那远程另一些分支如自己创建的</a:t>
            </a:r>
            <a:r>
              <a:rPr lang="en-US" altLang="zh-CN" dirty="0"/>
              <a:t>dev</a:t>
            </a:r>
            <a:r>
              <a:rPr lang="zh-CN" altLang="en-US" dirty="0"/>
              <a:t>用来做什么呢？ 它其实就是用来保存代码的，我们如果在本地的</a:t>
            </a:r>
            <a:r>
              <a:rPr lang="en-US" altLang="zh-CN" dirty="0"/>
              <a:t>dev</a:t>
            </a:r>
            <a:r>
              <a:rPr lang="zh-CN" altLang="en-US" dirty="0"/>
              <a:t>分支上未开发完毕，不能把它合并到本地的</a:t>
            </a:r>
            <a:r>
              <a:rPr lang="en-US" altLang="zh-CN" dirty="0"/>
              <a:t>master</a:t>
            </a:r>
            <a:r>
              <a:rPr lang="zh-CN" altLang="en-US" dirty="0"/>
              <a:t>分支上，那我们可以先把本地的</a:t>
            </a:r>
            <a:r>
              <a:rPr lang="en-US" altLang="zh-CN" dirty="0"/>
              <a:t>dev</a:t>
            </a:r>
            <a:r>
              <a:rPr lang="zh-CN" altLang="en-US" dirty="0"/>
              <a:t>分支保存在远程的</a:t>
            </a:r>
            <a:r>
              <a:rPr lang="en-US" altLang="zh-CN" dirty="0"/>
              <a:t>dev</a:t>
            </a:r>
            <a:r>
              <a:rPr lang="zh-CN" altLang="en-US" dirty="0"/>
              <a:t>分支上（</a:t>
            </a:r>
            <a:r>
              <a:rPr lang="en-US" altLang="zh-CN" dirty="0" err="1"/>
              <a:t>git</a:t>
            </a:r>
            <a:r>
              <a:rPr lang="en-US" altLang="zh-CN" dirty="0"/>
              <a:t> push origin </a:t>
            </a:r>
            <a:r>
              <a:rPr lang="en-US" altLang="zh-CN" dirty="0" err="1"/>
              <a:t>dev:dev</a:t>
            </a:r>
            <a:r>
              <a:rPr lang="en-US" altLang="zh-CN" dirty="0"/>
              <a:t> ----</a:t>
            </a:r>
            <a:r>
              <a:rPr lang="zh-CN" altLang="en-US" dirty="0"/>
              <a:t>第一个</a:t>
            </a:r>
            <a:r>
              <a:rPr lang="en-US" altLang="zh-CN" dirty="0"/>
              <a:t>dev</a:t>
            </a:r>
            <a:r>
              <a:rPr lang="zh-CN" altLang="en-US" dirty="0"/>
              <a:t>本地分支名称，第二个</a:t>
            </a:r>
            <a:r>
              <a:rPr lang="en-US" altLang="zh-CN" dirty="0"/>
              <a:t>dev</a:t>
            </a:r>
            <a:r>
              <a:rPr lang="zh-CN" altLang="en-US" dirty="0"/>
              <a:t>远程分支名称）。之后如果你得项目删除或者丢失可以重新克隆一个项目（此时只有</a:t>
            </a:r>
            <a:r>
              <a:rPr lang="en-US" altLang="zh-CN" dirty="0" err="1"/>
              <a:t>maste</a:t>
            </a:r>
            <a:r>
              <a:rPr lang="zh-CN" altLang="en-US" dirty="0"/>
              <a:t>分支），之后使用</a:t>
            </a:r>
            <a:r>
              <a:rPr lang="en-US" altLang="zh-CN" dirty="0" err="1"/>
              <a:t>git</a:t>
            </a:r>
            <a:r>
              <a:rPr lang="en-US" altLang="zh-CN" dirty="0"/>
              <a:t>  fetch </a:t>
            </a:r>
            <a:r>
              <a:rPr lang="en-US" altLang="zh-CN" dirty="0" err="1"/>
              <a:t>orgin</a:t>
            </a:r>
            <a:r>
              <a:rPr lang="en-US" altLang="zh-CN" dirty="0"/>
              <a:t>  </a:t>
            </a:r>
            <a:r>
              <a:rPr lang="zh-CN" altLang="en-US" dirty="0"/>
              <a:t>远程分支名（</a:t>
            </a:r>
            <a:r>
              <a:rPr lang="en-US" altLang="zh-CN" dirty="0"/>
              <a:t>dev</a:t>
            </a:r>
            <a:r>
              <a:rPr lang="zh-CN" altLang="en-US" dirty="0"/>
              <a:t>）</a:t>
            </a:r>
            <a:r>
              <a:rPr lang="en-US" altLang="zh-CN" dirty="0"/>
              <a:t>:</a:t>
            </a:r>
            <a:r>
              <a:rPr lang="zh-CN" altLang="en-US" dirty="0"/>
              <a:t>本地分支名（</a:t>
            </a:r>
            <a:r>
              <a:rPr lang="en-US" altLang="zh-CN" dirty="0"/>
              <a:t>dev</a:t>
            </a:r>
            <a:r>
              <a:rPr lang="zh-CN" altLang="en-US" dirty="0"/>
              <a:t>），把远程分支上的代码</a:t>
            </a:r>
            <a:r>
              <a:rPr lang="en-US" altLang="zh-CN" dirty="0"/>
              <a:t>clone</a:t>
            </a:r>
            <a:r>
              <a:rPr lang="zh-CN" altLang="en-US" dirty="0"/>
              <a:t>下来并且在本地创建这个分支。</a:t>
            </a:r>
            <a:endParaRPr lang="en-US" altLang="zh-CN" dirty="0"/>
          </a:p>
          <a:p>
            <a:endParaRPr lang="en-US" altLang="zh-CN" dirty="0"/>
          </a:p>
          <a:p>
            <a:r>
              <a:rPr lang="zh-CN" altLang="en-US" dirty="0"/>
              <a:t>多人开发的或多了一个操作：</a:t>
            </a:r>
            <a:endParaRPr lang="en-US" altLang="zh-CN" dirty="0"/>
          </a:p>
          <a:p>
            <a:r>
              <a:rPr lang="zh-CN" altLang="en-US" dirty="0"/>
              <a:t>就是在合并本地</a:t>
            </a:r>
            <a:r>
              <a:rPr lang="en-US" altLang="zh-CN" dirty="0"/>
              <a:t>dev</a:t>
            </a:r>
            <a:r>
              <a:rPr lang="zh-CN" altLang="en-US" dirty="0"/>
              <a:t>分支的时候先，在</a:t>
            </a:r>
            <a:r>
              <a:rPr lang="en-US" altLang="zh-CN" dirty="0"/>
              <a:t>master</a:t>
            </a:r>
            <a:r>
              <a:rPr lang="zh-CN" altLang="en-US" dirty="0"/>
              <a:t>分支上来取以下远程</a:t>
            </a:r>
            <a:r>
              <a:rPr lang="en-US" altLang="zh-CN" dirty="0"/>
              <a:t>master</a:t>
            </a:r>
            <a:r>
              <a:rPr lang="zh-CN" altLang="en-US" dirty="0"/>
              <a:t>分支的代码，因为 为了确保你本地的</a:t>
            </a:r>
            <a:r>
              <a:rPr lang="en-US" altLang="zh-CN" dirty="0"/>
              <a:t>master</a:t>
            </a:r>
            <a:r>
              <a:rPr lang="zh-CN" altLang="en-US" dirty="0"/>
              <a:t>分支是最新的代码，所以需要这样做</a:t>
            </a:r>
            <a:r>
              <a:rPr lang="en-US" altLang="zh-CN" dirty="0" err="1"/>
              <a:t>git</a:t>
            </a:r>
            <a:r>
              <a:rPr lang="en-US" altLang="zh-CN" dirty="0"/>
              <a:t> pull origin master</a:t>
            </a:r>
            <a:r>
              <a:rPr lang="zh-CN" altLang="en-US" dirty="0"/>
              <a:t>。</a:t>
            </a:r>
            <a:endParaRPr lang="en-US" altLang="zh-CN" dirty="0"/>
          </a:p>
          <a:p>
            <a:endParaRPr lang="en-US" altLang="zh-CN" dirty="0"/>
          </a:p>
          <a:p>
            <a:endParaRPr lang="en-US" altLang="zh-CN" dirty="0"/>
          </a:p>
          <a:p>
            <a:r>
              <a:rPr lang="zh-CN" altLang="en-US" dirty="0"/>
              <a:t>大公司开发流程：</a:t>
            </a:r>
            <a:endParaRPr lang="en-US" altLang="zh-CN" dirty="0"/>
          </a:p>
          <a:p>
            <a:r>
              <a:rPr lang="zh-CN" altLang="en-US" dirty="0"/>
              <a:t>其他都一样切记不要在本地</a:t>
            </a:r>
            <a:r>
              <a:rPr lang="en-US" altLang="zh-CN" dirty="0"/>
              <a:t>master</a:t>
            </a:r>
            <a:r>
              <a:rPr lang="zh-CN" altLang="en-US" dirty="0"/>
              <a:t>分支上开发，在其他分支如</a:t>
            </a:r>
            <a:r>
              <a:rPr lang="en-US" altLang="zh-CN" dirty="0"/>
              <a:t>dev</a:t>
            </a:r>
            <a:r>
              <a:rPr lang="zh-CN" altLang="en-US" dirty="0"/>
              <a:t>上开发后，合并到</a:t>
            </a:r>
            <a:r>
              <a:rPr lang="en-US" altLang="zh-CN" dirty="0"/>
              <a:t>master</a:t>
            </a:r>
            <a:r>
              <a:rPr lang="zh-CN" altLang="en-US" dirty="0"/>
              <a:t>上直接上传到 远程的 非</a:t>
            </a:r>
            <a:r>
              <a:rPr lang="en-US" altLang="zh-CN" dirty="0"/>
              <a:t>master</a:t>
            </a:r>
            <a:r>
              <a:rPr lang="zh-CN" altLang="en-US" dirty="0"/>
              <a:t>分支如</a:t>
            </a:r>
            <a:r>
              <a:rPr lang="en-US" altLang="zh-CN" dirty="0"/>
              <a:t>dev</a:t>
            </a:r>
            <a:r>
              <a:rPr lang="zh-CN" altLang="en-US" dirty="0"/>
              <a:t>分支，通过 </a:t>
            </a:r>
            <a:r>
              <a:rPr lang="en-US" altLang="zh-CN" dirty="0" err="1"/>
              <a:t>git</a:t>
            </a:r>
            <a:r>
              <a:rPr lang="en-US" altLang="zh-CN" dirty="0"/>
              <a:t> push origin </a:t>
            </a:r>
            <a:r>
              <a:rPr lang="en-US" altLang="zh-CN" dirty="0" err="1"/>
              <a:t>master:dev</a:t>
            </a:r>
            <a:r>
              <a:rPr lang="en-US" altLang="zh-CN" dirty="0"/>
              <a:t>; </a:t>
            </a:r>
            <a:r>
              <a:rPr lang="zh-CN" altLang="en-US" dirty="0"/>
              <a:t>之后项目参与者可以 </a:t>
            </a:r>
            <a:r>
              <a:rPr lang="en-US" altLang="zh-CN" dirty="0"/>
              <a:t>new pull request </a:t>
            </a:r>
            <a:r>
              <a:rPr lang="zh-CN" altLang="en-US" dirty="0"/>
              <a:t>进行代码比对和阅读，项目管理人员在同意的情况下，会把远程</a:t>
            </a:r>
            <a:r>
              <a:rPr lang="en-US" altLang="zh-CN" dirty="0"/>
              <a:t>dev</a:t>
            </a:r>
            <a:r>
              <a:rPr lang="zh-CN" altLang="en-US" dirty="0"/>
              <a:t>分支上的东西合并到远程</a:t>
            </a:r>
            <a:r>
              <a:rPr lang="en-US" altLang="zh-CN" dirty="0"/>
              <a:t>master</a:t>
            </a:r>
            <a:r>
              <a:rPr lang="zh-CN" altLang="en-US" dirty="0"/>
              <a:t>分支上。</a:t>
            </a:r>
            <a:endParaRPr lang="en-US" altLang="zh-CN" dirty="0"/>
          </a:p>
        </p:txBody>
      </p:sp>
    </p:spTree>
  </p:cSld>
  <p:clrMapOvr>
    <a:masterClrMapping/>
  </p:clrMapOvr>
</p:sld>
</file>

<file path=ppt/theme/theme1.xml><?xml version="1.0" encoding="utf-8"?>
<a:theme xmlns:a="http://schemas.openxmlformats.org/drawingml/2006/main" name="深度">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TM04033923[[fn=深度]]</Template>
  <TotalTime>0</TotalTime>
  <Words>2642</Words>
  <Application>WPS 演示</Application>
  <PresentationFormat>宽屏</PresentationFormat>
  <Paragraphs>111</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Corbel</vt:lpstr>
      <vt:lpstr>微软雅黑</vt:lpstr>
      <vt:lpstr>Arial Unicode MS</vt:lpstr>
      <vt:lpstr>华文楷体</vt:lpstr>
      <vt:lpstr>Calibri</vt:lpstr>
      <vt:lpstr>深度</vt:lpstr>
      <vt:lpstr>Git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dc:title>
  <dc:creator>陈思彤</dc:creator>
  <cp:lastModifiedBy>Administrator</cp:lastModifiedBy>
  <cp:revision>25</cp:revision>
  <dcterms:created xsi:type="dcterms:W3CDTF">2016-11-15T03:09:00Z</dcterms:created>
  <dcterms:modified xsi:type="dcterms:W3CDTF">2017-10-02T08:20:56Z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